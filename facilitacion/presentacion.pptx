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Joseph: Buenos días. Somos el Grupo 1 y hoy facilitamos la Fase 1 de la APE 3. Primero un repaso rápido en Quizizz de lo que vimos el jueves.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Jullisa: Proyecta el QR, espera a que entren todos (2 min) y lanza las 8 preguntas. Al final comenta la pregunta más fallada.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Jullisa: Que respondan en voz alta. Respuesta: 1.000.000, porque la lista solo se recorre uno por uno aunque esté ordenada. No resuelvas todavía cómo mejorarlo: la respuesta es el ABB y aparece en 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Joseph: La APE 3 no la hace un solo grupo. Nosotros dejamos el caso y la base; el Grupo 2 programa inserción y recorridos, el Grupo 3 eliminación y transformación, y el Grupo 4 integra y presenta.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Joseph: El caso tiene dos partes con naturalezas distintas: la organización (jerarquía) y los estudiantes (búsqueda por matrícula). Por eso usamos dos árboles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Noemi: La organización no puede ser binaria porque una facultad tiene más de 2 carreras. Los estudiantes sí: la matrícula es una clave numérica y queremos buscar rápido. A la derecha: el paralelo SW-N3-B apunta a su propio ABB; esa flecha es donde se unen los dos árboles. Aclaren la convención de altura antes del 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Noemi: Esto es lo que entregamos como grupo. Escaneen el QR: ahí está todo y es lo que van a clonar en las próximas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Carlos: El proyecto tiene 4 paquetes. app tiene el menú y los datos de prueba. negocio tiene los nodos y los árboles: los nodos están completos y los árboles tienen sus métodos con 'Pendiente: Fase X'. modelo tiene los datos puros: UnidadAcademica y Estudiante. enums tiene TipoUnidad y TipoRecorrido. Las flechas van en un solo sentido: app usa negocio, negocio usa modelo y modelo usa enums; enums no depende de nadie. Si preguntan por qué los nodos están en negocio: NodoUnidad guarda un ArbolEstudiantes; en modelo habría un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Carlos: Un enum no es solo una lista de constantes: también guarda reglas. TipoUnidad sabe el orden de la jerarquía y puedeTenerHijo compara posiciones: un hijo solo puede ser del tipo siguiente. NodoUnidad.agregarHijo usa esta regla. TipoRecorrido permite tener un solo método recorrer(tipo) en vez de tres métodos, y el menú muestra las opciones directamente del enum.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Carlos: Ahora el detalle. Fíjense en las multiplicidades: NodoUnidad tiene 0 o muchos hijos (árbol general) y NodoEstudiante máximo 2 (binario). El rombo negro es composición: el nodo contiene al dato. El rombo de NodoUnidad a ArbolEstudiantes dice que solo un PARALELO tiene ABB: ahí se unen los dos árboles. El árbol solo guarda la raíz. Clic en el enlace para abrir el diagrama completo con atributos y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Jeremy: Dos ideas del código. El nodo del ABB es simplemente dato, izquierdo y derecho. Y cada método que falta lanza 'Pendiente: Fase X': el proyecto compila, el menú funciona y avisa qué falta. Grupo 2 y Grupo 3: busquen ese texto. Clic en el enlace para ver src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Andrés: Cada grupo de exposición trabaja una facultad. Las fichas con sus datos están en el repo, en docs/fichas.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Andrés: Explica los 3 entregables y muestra la lista de cotejo desde ya: así trabajan apuntando a eso. No califica, es retroalimentación.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Andrés: Este es nuestro trabajo con FISEI. Orden del ABB: 50, 30, 70, 20, 40, 60, 80, 35, 65. El 35 queda a la izquierda del 40 porque 35 &lt; 50, 35 &gt; 30 y 35 &lt; 40. Cada grupo tiene otra facultad y otro orden, así que no pueden copiar.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Andrés: Proyecta el QR y escribe la hora de la revisión (inicio de clase + 88 minutos). Durante el reto, moderas el Padlet.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Jeremy: Resume lo que quedó listo, anuncia la Fase 2 del Grupo 2 y recuerda que el Padlet se sube a Moodle.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F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2"/>
                </a:solidFill>
              </a:rPr>
              <a:t>APE 3 · Fase 1 · Grupo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anchicoyunda1234/APE3-Arboles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chicoyunda1234/APE3-Arboles/blob/main/docs/diagramas/clases.md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anchicoyunda1234/APE3-Arboles/tree/main/src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</a:rPr>
              <a:t>APE 3 · FASE 1 · ÁRBOLES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Jerárquico Académico UTA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6CF"/>
                </a:solidFill>
              </a:rPr>
              <a:t>Modelar la universidad con un árbol general y a sus estudiantes con un árbol binario de búsqueda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Grupo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Altamirano Segovia Jullisa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Chico Yunda Juan Carlos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Llamuca Abrajan Andrés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Romo Núñez Joseph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Torosina Armendariz Jeremy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Tuza Quinatoa Noemi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4343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6CF"/>
                </a:solidFill>
              </a:rPr>
              <a:t>Estructura de Datos · Tercero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CF"/>
                </a:solidFill>
              </a:rPr>
              <a:t>Ing. José Rubén Caiza Caizabuano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CF"/>
                </a:solidFill>
              </a:rPr>
              <a:t>Lunes 12 de octubre de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>
            <a:off x="9144000" y="1554480"/>
            <a:ext cx="10058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1554480"/>
            <a:ext cx="10058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595360" y="2926080"/>
            <a:ext cx="5486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926080"/>
            <a:ext cx="5486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607040" y="2926080"/>
            <a:ext cx="5486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926080"/>
            <a:ext cx="548640" cy="8229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10058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22"/>
                </a:solidFill>
              </a:rPr>
              <a:t>UTA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3774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881360" y="23774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81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37490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18320" y="37490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32720" y="37490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430000" y="3749040"/>
            <a:ext cx="548640" cy="54864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Repaso: Introducción a los árboles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8 preguntas · 10 minutos · entren desde el celular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rgbClr val="5E6B6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840480" cy="3840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Pegar aquí el QR del Quizizz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737360"/>
            <a:ext cx="6217920" cy="1188720"/>
          </a:xfrm>
          <a:prstGeom prst="roundRect">
            <a:avLst>
              <a:gd name="adj" fmla="val 923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828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Enlace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194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B62"/>
                </a:solidFill>
              </a:rPr>
              <a:t>PEGAR AQUÍ EL ENLACE DEL QUIZIZZ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3154680"/>
            <a:ext cx="6217920" cy="1188720"/>
          </a:xfrm>
          <a:prstGeom prst="roundRect">
            <a:avLst>
              <a:gd name="adj" fmla="val 9231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3246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</a:rPr>
              <a:t>Código del juego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611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</a:rPr>
              <a:t>_ _ _ _ _ _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6177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2B"/>
                </a:solidFill>
              </a:rPr>
              <a:t>Repasamos: 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raíz, hoja, grado, nivel, altura, árbol binario y árbol general. Lo necesitan para el reto de hoy.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empezar, una pregunta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A22"/>
                </a:solidFill>
              </a:rPr>
              <a:t>Tengo una lista enlazada ORDENADA con 1.000.000 de estudiantes.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¿Cuántos nodos visito, en el peor caso, para encontrar uno?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019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45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21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78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23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406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103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025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…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27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EEF5E6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999 870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02952" y="3675888"/>
            <a:ext cx="320040" cy="0"/>
          </a:xfrm>
          <a:prstGeom prst="line">
            <a:avLst/>
          </a:prstGeom>
          <a:noFill/>
          <a:ln w="19050">
            <a:solidFill>
              <a:srgbClr val="5E6B6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41280" y="3291840"/>
            <a:ext cx="1234440" cy="777240"/>
          </a:xfrm>
          <a:prstGeom prst="roundRect">
            <a:avLst>
              <a:gd name="adj" fmla="val 141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2"/>
                </a:solidFill>
              </a:rPr>
              <a:t>1 000 000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114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cabeza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6B3D"/>
                </a:solidFill>
              </a:rPr>
              <a:t>¿Y si en vez de una fila los organizamos de otra forma?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estamos: la APE 3 en 4 fases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Cada grupo facilita una fase sobre el mismo caso y el mismo código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22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Lun 12/10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Grupo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Caso, modelo, esqueleto y design challenge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</a:rPr>
              <a:t>HOY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65960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3D"/>
                </a:solidFill>
              </a:rPr>
              <a:t>Lun 19/10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Grupo 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A22"/>
                </a:solidFill>
              </a:rPr>
              <a:t>Inserción y recorridos recursivos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3D"/>
                </a:solidFill>
              </a:rPr>
              <a:t>Jue 22/10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Grupo 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A22"/>
                </a:solidFill>
              </a:rPr>
              <a:t>Modificar, eliminar y transformar a binario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5256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1965960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3D"/>
                </a:solidFill>
              </a:rPr>
              <a:t>Jue 05/11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1041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Grupo 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A22"/>
                </a:solidFill>
              </a:rPr>
              <a:t>Integración, pruebas e informe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2B"/>
                </a:solidFill>
              </a:rPr>
              <a:t>Hoy salen: </a:t>
            </a:r>
            <a:pPr indent="0" marL="0">
              <a:buNone/>
            </a:pPr>
            <a:r>
              <a:rPr lang="en-US" sz="1800" dirty="0">
                <a:solidFill>
                  <a:srgbClr val="1E2A22"/>
                </a:solidFill>
              </a:rPr>
              <a:t>el caso, el modelo de clases, el esqueleto en GitHub y los árboles que ustedes van a dibujar.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caso: SJA-UTA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Sistema Jerárquico Académico de la Universidad Técnica de Ambato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22"/>
                </a:solidFill>
              </a:rPr>
              <a:t>La UTA necesita una app en Java que represente su estructura y gestione a los estudiantes de cada paralelo.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06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organización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22"/>
                </a:solidFill>
              </a:rPr>
              <a:t>UTA → Facultad → Carrera → Nivel → Paralelo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Agregar, buscar, mostrar jerarquía, altura, grado, nivel, hojas, eliminar y transformar a binario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560320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06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estudiantes de cada paralelo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22"/>
                </a:solidFill>
              </a:rPr>
              <a:t>Matrícula · cédula · nombres · promedio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Insertar, buscar por matrícula, recorridos, modificar, eliminar y estadísticas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Java por consola · árboles propios (sin TreeMap ni TreeSet) · recorridos recursivos · capas modelo / negocio /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dos árboles?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675120" cy="2011680"/>
          </a:xfrm>
          <a:prstGeom prst="roundRect">
            <a:avLst>
              <a:gd name="adj" fmla="val 5455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general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6B3D"/>
                </a:solidFill>
              </a:rPr>
              <a:t>Organización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</a:rPr>
              <a:t>Un nodo puede tener muchos hijos: FISEI tiene 5 carreras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</a:rPr>
              <a:t>No hay mayor ni menor: importa quién depende de quién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6675120" cy="2011680"/>
          </a:xfrm>
          <a:prstGeom prst="roundRect">
            <a:avLst>
              <a:gd name="adj" fmla="val 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binario de búsqueda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5A12"/>
                </a:solidFill>
              </a:rPr>
              <a:t>Estudiantes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</a:rPr>
              <a:t>Máximo 2 hijos: menor a la izquierda, mayor a la derecha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</a:rPr>
              <a:t>Buscar descarta la mitad en cada paso: ~20 pasos para 1.000.000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6675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2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760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Convención: </a:t>
            </a:r>
            <a:pPr indent="0" marL="0">
              <a:buNone/>
            </a:pPr>
            <a:r>
              <a:rPr lang="en-US" sz="1400" dirty="0">
                <a:solidFill>
                  <a:srgbClr val="1E2A22"/>
                </a:solidFill>
              </a:rPr>
              <a:t>la raíz está en nivel 0 y la altura es el nivel del nodo más profundo.</a:t>
            </a:r>
            <a:endParaRPr lang="en-US" sz="1400" dirty="0"/>
          </a:p>
        </p:txBody>
      </p:sp>
      <p:pic>
        <p:nvPicPr>
          <p:cNvPr id="13" name="Image 0" descr="/home/claude/ape3/diag/gv-obje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982106"/>
            <a:ext cx="4206240" cy="35338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hicimos nosotros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Todo está en el repositorio y es la base de las fases 2, 3 y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B"/>
                </a:solidFill>
              </a:rPr>
              <a:t>El caso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Enunciado, operaciones de las 4 fases y restricciones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965960"/>
            <a:ext cx="594360" cy="59436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B"/>
                </a:solidFill>
              </a:rPr>
              <a:t>Los diagramas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Paquetes, enums, clases y objetos, en Mermaid dentro del repo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B"/>
                </a:solidFill>
              </a:rPr>
              <a:t>El esqueleto Java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10 clases: modelo completo, negocio con firmas, menú listo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79476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4023360"/>
            <a:ext cx="594360" cy="59436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B"/>
                </a:solidFill>
              </a:rPr>
              <a:t>Las fichas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Una ficha por grupo con su facultad y sus matrículas</a:t>
            </a:r>
            <a:endParaRPr lang="en-US" sz="1500" dirty="0"/>
          </a:p>
        </p:txBody>
      </p:sp>
      <p:pic>
        <p:nvPicPr>
          <p:cNvPr id="24" name="Image 0" descr="/home/claude/ape3/diag/qr-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37360"/>
            <a:ext cx="2651760" cy="2651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73252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</a:rPr>
              <a:t>Repositorio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50392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E6B9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github.com/juanchicoyunda1234/APE3-Arboles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Paquetes: dónde vive cada clase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Primero la vista general, después las reglas y al final el detalle</a:t>
            </a:r>
            <a:endParaRPr lang="en-US" sz="1600" dirty="0"/>
          </a:p>
        </p:txBody>
      </p:sp>
      <p:pic>
        <p:nvPicPr>
          <p:cNvPr id="4" name="Image 0" descr="/home/claude/ape3/diag/gv-paqu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236"/>
            <a:ext cx="11064240" cy="2789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26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</a:rPr>
              <a:t>Menú y datos de prueba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Completo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60420" y="4526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4330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negocio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54330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</a:rPr>
              <a:t>Nodos y árboles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Nodos completos; árboles con "Pendiente: Fase X"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4526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</a:rPr>
              <a:t>Datos: UnidadAcademica y Estudiante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Completo: no se toca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83980" y="4526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6686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6686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</a:rPr>
              <a:t>TipoUnidad y TipoRecorrido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Completo: guarda las reglas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3D"/>
                </a:solidFill>
              </a:rPr>
              <a:t>Un solo sentido: app → negocio → modelo → enums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Enums: reglas en vez de textos sueltos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Paquete enums · TipoUnidad y TipoRecorrido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760720" cy="2514600"/>
          </a:xfrm>
          <a:prstGeom prst="roundRect">
            <a:avLst>
              <a:gd name="adj" fmla="val 2909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5486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enums;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TipoUnidad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UNIVERSIDAD, FACULTAD, CARRERA,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NIVEL, PARALELO;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puedeTenerHijo(TipoUnidad hijo)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hijo !=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hijo.ordinal() == this.ordinal()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34340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enums;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TipoRecorrido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PREORDEN, INORDEN, POSORDEN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B"/>
                </a:solidFill>
              </a:rPr>
              <a:t>La regla de la jerarquía vive en el enum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2011680"/>
            <a:ext cx="4983480" cy="475488"/>
          </a:xfrm>
          <a:prstGeom prst="roundRect">
            <a:avLst>
              <a:gd name="adj" fmla="val 23077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20116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FACULTAD.puedeTenerHijo(CARRERA)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20116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6B3D"/>
                </a:solidFill>
              </a:rPr>
              <a:t>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578608"/>
            <a:ext cx="4983480" cy="475488"/>
          </a:xfrm>
          <a:prstGeom prst="roundRect">
            <a:avLst>
              <a:gd name="adj" fmla="val 23077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5786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CARRERA.puedeTenerHijo(NIVEL)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5786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6B3D"/>
                </a:solidFill>
              </a:rPr>
              <a:t>true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145536"/>
            <a:ext cx="4983480" cy="475488"/>
          </a:xfrm>
          <a:prstGeom prst="roundRect">
            <a:avLst>
              <a:gd name="adj" fmla="val 23077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1455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FACULTAD.puedeTenerHijo(PARALELO)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31455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false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12464"/>
            <a:ext cx="4983480" cy="475488"/>
          </a:xfrm>
          <a:prstGeom prst="roundRect">
            <a:avLst>
              <a:gd name="adj" fmla="val 23077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37124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PARALELO.puedeTenerHijo(...)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7124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false: es hoja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43484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44805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</a:rPr>
              <a:t>¿Por qué enums? </a:t>
            </a:r>
            <a:pPr indent="0" marL="0">
              <a:buNone/>
            </a:pPr>
            <a:r>
              <a:rPr lang="en-US" sz="1400" dirty="0">
                <a:solidFill>
                  <a:srgbClr val="1E2A22"/>
                </a:solidFill>
              </a:rPr>
              <a:t>Con textos ("carrera", "Carrera ") cualquier error de tipeo pasa. Con un enum el compilador solo acepta valores válidos, y el menú lista las opciones con values().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Clases: cómo se relacionan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Versión simplificada · el diagrama completo con atributos y métodos está en el repo</a:t>
            </a:r>
            <a:endParaRPr lang="en-US" sz="1600" dirty="0"/>
          </a:p>
        </p:txBody>
      </p:sp>
      <p:pic>
        <p:nvPicPr>
          <p:cNvPr id="4" name="Image 0" descr="/home/claude/ape3/diag/gv-clases-simple-t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77" y="1508760"/>
            <a:ext cx="7530686" cy="4800600"/>
          </a:xfrm>
          <a:prstGeom prst="rect">
            <a:avLst/>
          </a:prstGeom>
        </p:spPr>
      </p:pic>
      <p:pic>
        <p:nvPicPr>
          <p:cNvPr id="5" name="Image 1" descr="/home/claude/ape3/diag/qr-cla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508760"/>
            <a:ext cx="1737360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325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2E6B9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diagrama completo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503920" y="3794760"/>
            <a:ext cx="3154680" cy="749808"/>
          </a:xfrm>
          <a:prstGeom prst="roundRect">
            <a:avLst>
              <a:gd name="adj" fmla="val 14634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41080" y="37947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0..* hijos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árbol general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503920" y="4663440"/>
            <a:ext cx="3154680" cy="749808"/>
          </a:xfrm>
          <a:prstGeom prst="roundRect">
            <a:avLst>
              <a:gd name="adj" fmla="val 14634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41080" y="46634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0..2 izq / 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binario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03920" y="5532120"/>
            <a:ext cx="3154680" cy="749808"/>
          </a:xfrm>
          <a:prstGeom prst="roundRect">
            <a:avLst>
              <a:gd name="adj" fmla="val 14634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41080" y="5532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0..1 solo PARALELO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aquí se unen los dos árboles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vistazo al código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negocio;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NodoEstudiante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Estudiante dato;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NodoEstudiante izquierdo;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NodoEstudiante derecho;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1 · El nodo del ABB: dato + izquierdo + derecho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8404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insertar(Estudiante 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UnsupportedOperationException(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"Pendiente: Fase 2 (insertar)");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2 · Lo que falta lanza "Pendiente: Fase X"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3716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SJA-UTA: Sistema Jerárquico Académico 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Opción: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del paralelo: SW-N3-B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[Insertar estudiante] [PENDIENTE]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Pendiente: Fase 2 (buscar)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1089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3 · El proyecto compila y el menú avisa qué falta</a:t>
            </a:r>
            <a:endParaRPr lang="en-US" sz="1400" dirty="0"/>
          </a:p>
        </p:txBody>
      </p:sp>
      <p:pic>
        <p:nvPicPr>
          <p:cNvPr id="12" name="Image 0" descr="/home/claude/ape3/diag/qr-s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0"/>
            <a:ext cx="1600200" cy="1600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093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E6B9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el código en GitHub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Grupo 2 y Grupo 3: busquen "Pendiente: Fase 2" o "Fase 3" para encontrar lo suyo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y facultades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Cada grupo modela una facultad de la UTA · el Grupo 1 resolvió FISEI como ejemplo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Equipo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Integrantes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Facultad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22"/>
                          </a:solidFill>
                        </a:rPr>
                        <a:t>Grupo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Cunalata, Chalco, Camacho, Tisalema, Tacuri, Silva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FCS · Ciencias de la Salud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22"/>
                          </a:solidFill>
                        </a:rPr>
                        <a:t>Grupo 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Villacres, Guamanquispe, Ortiz, Sierra, Guanoquiza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FICM · Ingeniería Civil y Mecánica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22"/>
                          </a:solidFill>
                        </a:rPr>
                        <a:t>Grupo 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Caguana, Oto, Moyota, Yanchatipan, Maigua, Villacis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FCHE · Ciencias Humanas y de la Educación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22"/>
                          </a:solidFill>
                        </a:rPr>
                        <a:t>Grupo 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Tenorio, Espinoza, Manobanda, Jijon, Gamboa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22"/>
                          </a:solidFill>
                        </a:rPr>
                        <a:t>FCAGP · Ciencias Agropecuarias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2"/>
                </a:solidFill>
              </a:rPr>
              <a:t>Los equipos son los grupos de exposición. Las otras 5 facultades quedan resueltas en el árbol completo de la UTA, en el repositorio.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reto: 38 minutos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Dibujen en papel, saquen foto y publíquenla en la columna de su grupo en el Padlet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1280160"/>
          </a:xfrm>
          <a:prstGeom prst="roundRect">
            <a:avLst>
              <a:gd name="adj" fmla="val 857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09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2B"/>
                </a:solidFill>
              </a:rPr>
              <a:t>Árbol general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57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Su facultad → carreras (máx. 3). Una carrera baja a niveles y paralelos (los inventan). Marquen raíz, hojas, altura, grado y nivel.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126480" cy="1280160"/>
          </a:xfrm>
          <a:prstGeom prst="roundRect">
            <a:avLst>
              <a:gd name="adj" fmla="val 857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55848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558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172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2B"/>
                </a:solidFill>
              </a:rPr>
              <a:t>ABB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20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Inserten las matrículas de su ficha en ese orden. Marquen raíz, hojas, altura y el nivel pedido. Flecha del paralelo a su ABB.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6126480" cy="1280160"/>
          </a:xfrm>
          <a:prstGeom prst="roundRect">
            <a:avLst>
              <a:gd name="adj" fmla="val 857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18888"/>
            <a:ext cx="685800" cy="685800"/>
          </a:xfrm>
          <a:prstGeom prst="ellipse">
            <a:avLst/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18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636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2B"/>
                </a:solidFill>
              </a:rPr>
              <a:t>Preguntas guía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983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2"/>
                </a:solidFill>
              </a:rPr>
              <a:t>Respondan las 6 preguntas de la ficha en texto, en el Padlet.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60020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</a:rPr>
              <a:t>Así los vamos a revisar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194560"/>
            <a:ext cx="4343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Jerarquía respetada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ABB bien construido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Raíz, hojas, altura, grado y nivel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Flecha PARALELO → ABB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Justifican las dos decisiones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Interpretan nuestro diagrama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A22"/>
                </a:solidFill>
              </a:rPr>
              <a:t>Participan todos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resuelto: FISEI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Así debe quedar su trabajo, con su facultad y sus matrículas</a:t>
            </a:r>
            <a:endParaRPr lang="en-US" sz="1600" dirty="0"/>
          </a:p>
        </p:txBody>
      </p:sp>
      <p:pic>
        <p:nvPicPr>
          <p:cNvPr id="4" name="Image 0" descr="/home/claude/ape3/diag/gv-fac-FIS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96243"/>
            <a:ext cx="7132320" cy="2625434"/>
          </a:xfrm>
          <a:prstGeom prst="rect">
            <a:avLst/>
          </a:prstGeom>
        </p:spPr>
      </p:pic>
      <p:pic>
        <p:nvPicPr>
          <p:cNvPr id="5" name="Image 1" descr="/home/claude/ape3/diag/gv-abb-FISE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71146"/>
            <a:ext cx="3840480" cy="30927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63840" y="4572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B3D"/>
                </a:solidFill>
              </a:rPr>
              <a:t>SW-N3-B  →  ABB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5074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Hojas (subárbol)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TI, TEL, AR, IND, N3-A, N3-B, N4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8892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926080" y="5074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Altura FISEI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66360" y="5074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Grado de SW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6948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0" y="5074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ABB: raíz / hojas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50 / 20, 35, 65, 80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50976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46920" y="5074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2"/>
                </a:solidFill>
              </a:rPr>
              <a:t>ABB: altura / nivel 35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3 /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Publiquen aquí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Un solo Padlet · una columna por grupo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rgbClr val="5E6B6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840480" cy="3840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B62"/>
                </a:solidFill>
              </a:rPr>
              <a:t>Pegar aquí el QR del Padlet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600200"/>
            <a:ext cx="6217920" cy="1051560"/>
          </a:xfrm>
          <a:prstGeom prst="roundRect">
            <a:avLst>
              <a:gd name="adj" fmla="val 10435"/>
            </a:avLst>
          </a:prstGeom>
          <a:solidFill>
            <a:srgbClr val="EEF5E6"/>
          </a:solidFill>
          <a:ln w="12700">
            <a:solidFill>
              <a:srgbClr val="EEF5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60020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B62"/>
                </a:solidFill>
              </a:rPr>
              <a:t>PEGAR AQUÍ EL ENLACE DEL PADLET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880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A22"/>
                </a:solidFill>
              </a:rPr>
              <a:t>Busquen la columna de su grupo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A22"/>
                </a:solidFill>
              </a:rPr>
              <a:t>Publiquen: foto del árbol general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A22"/>
                </a:solidFill>
              </a:rPr>
              <a:t>Publiquen: foto del ABB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A22"/>
                </a:solidFill>
              </a:rPr>
              <a:t>Publiquen: respuestas en texto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A22"/>
                </a:solidFill>
              </a:rPr>
              <a:t>Sus publicaciones quedan ocultas hasta la revisión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20640" y="5120640"/>
            <a:ext cx="6217920" cy="822960"/>
          </a:xfrm>
          <a:prstGeom prst="roundRect">
            <a:avLst>
              <a:gd name="adj" fmla="val 13333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A12"/>
                </a:solidFill>
              </a:rPr>
              <a:t>A las __:__ revisamos todos juntos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Quedó listo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603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Caso y operaciones de toda la APE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Diagramas de paquetes, enums, clases y objetos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Esqueleto Java que compila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Los árboles de las facultades de la UTA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</a:rPr>
              <a:t>Qué sigue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5603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Fase 2 · Lun 19/10 · Grupo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Inserción y recorridos recursivos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Busquen "Pendiente: Fase 2"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El árbol completo de la UTA queda en el repo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2E6B3D"/>
          </a:solidFill>
          <a:ln w="12700">
            <a:solidFill>
              <a:srgbClr val="2E6B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Hoy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5603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Exportamos el Padlet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 subimos a Moodle como evidencia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Respuestas modelo: en el repo después de clase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6CF"/>
                </a:solidFill>
              </a:rPr>
              <a:t>Gracias · Grupo 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sque UTA">
  <a:themeElements>
    <a:clrScheme name="Bosque UTA">
      <a:dk1>
        <a:srgbClr val="1E2A22"/>
      </a:dk1>
      <a:lt1>
        <a:srgbClr val="FFFFFF"/>
      </a:lt1>
      <a:dk2>
        <a:srgbClr val="1F4D2B"/>
      </a:dk2>
      <a:lt2>
        <a:srgbClr val="EEF5E6"/>
      </a:lt2>
      <a:accent1>
        <a:srgbClr val="2E6B3D"/>
      </a:accent1>
      <a:accent2>
        <a:srgbClr val="97BC62"/>
      </a:accent2>
      <a:accent3>
        <a:srgbClr val="F2A541"/>
      </a:accent3>
      <a:accent4>
        <a:srgbClr val="4E7A9E"/>
      </a:accent4>
      <a:accent5>
        <a:srgbClr val="B85042"/>
      </a:accent5>
      <a:accent6>
        <a:srgbClr val="5E6B62"/>
      </a:accent6>
      <a:hlink>
        <a:srgbClr val="2E6B9E"/>
      </a:hlink>
      <a:folHlink>
        <a:srgbClr val="6D5A8E"/>
      </a:folHlink>
    </a:clrScheme>
    <a:fontScheme name="Bosque U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 3 Fase 1: SJA-UTA</dc:title>
  <dc:subject>PptxGenJS Presentation</dc:subject>
  <dc:creator>Grupo 1</dc:creator>
  <cp:lastModifiedBy>Grupo 1</cp:lastModifiedBy>
  <cp:revision>1</cp:revision>
  <dcterms:created xsi:type="dcterms:W3CDTF">2026-10-11T23:21:51Z</dcterms:created>
  <dcterms:modified xsi:type="dcterms:W3CDTF">2026-10-11T23:21:51Z</dcterms:modified>
</cp:coreProperties>
</file>